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70" r:id="rId9"/>
    <p:sldId id="262" r:id="rId10"/>
    <p:sldId id="269" r:id="rId11"/>
    <p:sldId id="271" r:id="rId12"/>
    <p:sldId id="263" r:id="rId13"/>
    <p:sldId id="264" r:id="rId14"/>
    <p:sldId id="265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560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671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-914400" y="1371600"/>
            <a:ext cx="5486400" cy="3657600"/>
          </a:xfrm>
          <a:prstGeom prst="ellipse">
            <a:avLst/>
          </a:prstGeom>
          <a:solidFill>
            <a:srgbClr val="00E5CC">
              <a:alpha val="6000"/>
            </a:srgbClr>
          </a:solidFill>
          <a:ln w="12700">
            <a:solidFill>
              <a:srgbClr val="00E5CC">
                <a:alpha val="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65760"/>
            <a:ext cx="2084832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576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AI AGENTS &amp; AUTOMATION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777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</a:t>
            </a:r>
            <a:endParaRPr lang="en-US" sz="3800" dirty="0"/>
          </a:p>
        </p:txBody>
      </p:sp>
      <p:sp>
        <p:nvSpPr>
          <p:cNvPr id="40" name="Text 38"/>
          <p:cNvSpPr/>
          <p:nvPr/>
        </p:nvSpPr>
        <p:spPr>
          <a:xfrm>
            <a:off x="457200" y="1463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457200" y="2148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n8n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45720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Workflow — Real-Time Transaction Risk Scoring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3246120"/>
            <a:ext cx="4114800" cy="18288"/>
          </a:xfrm>
          <a:prstGeom prst="rect">
            <a:avLst/>
          </a:prstGeom>
          <a:solidFill>
            <a:srgbClr val="00E5CC">
              <a:alpha val="60000"/>
            </a:srgbClr>
          </a:solidFill>
          <a:ln w="12700">
            <a:solidFill>
              <a:srgbClr val="00E5CC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E5CC"/>
                </a:solidFill>
              </a:rPr>
              <a:t>GROUP MEMBERS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Khushi Lathwal  |  Rohit  |  Kunal  |  Divanshu  |  Kanav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3931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Applied Finance — Chitkara University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32320" y="228600"/>
            <a:ext cx="1645920" cy="6400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132320" y="228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CC"/>
                </a:solidFill>
              </a:rPr>
              <a:t>n8n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132320" y="5669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8B949E"/>
                </a:solidFill>
              </a:rPr>
              <a:t>AUTOMATION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320040" y="1143000"/>
            <a:ext cx="4114800" cy="356616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CC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1554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NBFCs and banks process </a:t>
            </a: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thousands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UPI/NEFT/IMPS transactions daily.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2240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8680" y="2240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detected 24+ hrs later — money already gone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26791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68680" y="2679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analyst review misses patterns at high volume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31181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68680" y="31181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 — risk team notified end of day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35570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68680" y="35570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audit trail from manual review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39959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68680" y="39959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volume crossed ₹20L crore/month — unscalable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1143000"/>
            <a:ext cx="4160520" cy="356616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5488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CC"/>
                </a:solidFill>
              </a:rPr>
              <a:t>WHY AUTOMATE IN 2026?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1600200"/>
            <a:ext cx="3840480" cy="685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0060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₹20L Cr+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80060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UPI volume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54880" y="2404872"/>
            <a:ext cx="3840480" cy="685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0060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4800600" y="2798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manual fraud detection time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3209544"/>
            <a:ext cx="3840480" cy="685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800600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~0.1%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4800600" y="36027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on digital txns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4014216"/>
            <a:ext cx="3840480" cy="685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800600" y="40782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Sec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4800600" y="4407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rule engine decision time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03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Manual Workflow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320040" y="1188720"/>
            <a:ext cx="1554480" cy="23774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2960" y="1280160"/>
            <a:ext cx="594360" cy="594360"/>
          </a:xfrm>
          <a:prstGeom prst="ellipse">
            <a:avLst/>
          </a:prstGeom>
          <a:solidFill>
            <a:srgbClr val="00B4A0">
              <a:alpha val="30000"/>
            </a:srgbClr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1148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Occurs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UPI/NEFT/IMPS initiated by customer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74520" y="2194560"/>
            <a:ext cx="155448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84248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CC"/>
                </a:solidFill>
              </a:rPr>
              <a:t>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029968" y="1188720"/>
            <a:ext cx="1554480" cy="23774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532888" y="1280160"/>
            <a:ext cx="594360" cy="594360"/>
          </a:xfrm>
          <a:prstGeom prst="ellipse">
            <a:avLst/>
          </a:prstGeom>
          <a:solidFill>
            <a:srgbClr val="00B4A0">
              <a:alpha val="30000"/>
            </a:srgbClr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32888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2121408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Export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121408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exported to Excel daily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84448" y="2194560"/>
            <a:ext cx="155448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94176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CC"/>
                </a:solidFill>
              </a:rPr>
              <a:t>▶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39896" y="1188720"/>
            <a:ext cx="1554480" cy="23774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242816" y="1280160"/>
            <a:ext cx="594360" cy="594360"/>
          </a:xfrm>
          <a:prstGeom prst="ellipse">
            <a:avLst/>
          </a:prstGeom>
          <a:solidFill>
            <a:srgbClr val="FF8C42">
              <a:alpha val="3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42816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3831336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831336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scans rows for anomalies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294376" y="2194560"/>
            <a:ext cx="155448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04104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CC"/>
                </a:solidFill>
              </a:rPr>
              <a:t>▶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49824" y="1188720"/>
            <a:ext cx="1554480" cy="23774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952744" y="1280160"/>
            <a:ext cx="594360" cy="594360"/>
          </a:xfrm>
          <a:prstGeom prst="ellipse">
            <a:avLst/>
          </a:prstGeom>
          <a:solidFill>
            <a:srgbClr val="FF8C42">
              <a:alpha val="3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52744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5541264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Escalation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541264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 to Risk Manager if suspicious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004304" y="2194560"/>
            <a:ext cx="155448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14032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CC"/>
                </a:solidFill>
              </a:rPr>
              <a:t>▶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159752" y="1188720"/>
            <a:ext cx="1554480" cy="23774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662672" y="1280160"/>
            <a:ext cx="594360" cy="594360"/>
          </a:xfrm>
          <a:prstGeom prst="ellipse">
            <a:avLst/>
          </a:prstGeom>
          <a:solidFill>
            <a:srgbClr val="FF4C4C">
              <a:alpha val="30000"/>
            </a:srgbClr>
          </a:solidFill>
          <a:ln w="12700">
            <a:solidFill>
              <a:srgbClr val="FF4C4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62672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⛔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7251192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Taken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251192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flagged — often 24+ hrs later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0040" y="3749040"/>
            <a:ext cx="8503920" cy="1051560"/>
          </a:xfrm>
          <a:prstGeom prst="rect">
            <a:avLst/>
          </a:prstGeom>
          <a:solidFill>
            <a:srgbClr val="1C0A0A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20040" y="3749040"/>
            <a:ext cx="45720" cy="1051560"/>
          </a:xfrm>
          <a:prstGeom prst="rect">
            <a:avLst/>
          </a:prstGeom>
          <a:solidFill>
            <a:srgbClr val="FF4C4C"/>
          </a:solidFill>
          <a:ln w="12700">
            <a:solidFill>
              <a:srgbClr val="FF4C4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4C4C"/>
                </a:solidFill>
              </a:rPr>
              <a:t>KEY INEFFICIENCIES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0292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24+ hour delay  ❌ Human error prone  ❌ No real-time alerts  ❌ No audit trail  ❌ Not scalable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04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Design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Self-created dataset — 55 transactions, 13 input columns + 3 n8n output columns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1371600"/>
            <a:ext cx="411480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1371600"/>
            <a:ext cx="36576" cy="41148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16002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transaction identifier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1847088"/>
            <a:ext cx="411480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1847088"/>
            <a:ext cx="36576" cy="41148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18928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20756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identifier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" y="2322576"/>
            <a:ext cx="411480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2322576"/>
            <a:ext cx="36576" cy="41148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23682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25511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full name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2798064"/>
            <a:ext cx="411480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040" y="2798064"/>
            <a:ext cx="36576" cy="41148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28437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Amount_(INR)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3026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in rupees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" y="3273552"/>
            <a:ext cx="411480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0040" y="3273552"/>
            <a:ext cx="36576" cy="41148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3319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Transaction_Time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35021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 of transaction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0040" y="3749040"/>
            <a:ext cx="411480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0040" y="3749040"/>
            <a:ext cx="36576" cy="41148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794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7200" y="39776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Foreign / Unknown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" y="4224528"/>
            <a:ext cx="411480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0040" y="4224528"/>
            <a:ext cx="36576" cy="41148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270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Account_Age_(Days)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" y="44531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account opened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17720" y="1371600"/>
            <a:ext cx="416052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17720" y="1371600"/>
            <a:ext cx="36576" cy="41148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Prev_Txn_Count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754880" y="16002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transaction history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617720" y="1847088"/>
            <a:ext cx="416052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617720" y="1847088"/>
            <a:ext cx="36576" cy="41148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1892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Outflow_Ratio_%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754880" y="20756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money immediately transferred out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617720" y="2322576"/>
            <a:ext cx="416052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617720" y="2322576"/>
            <a:ext cx="36576" cy="41148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0" y="2368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Transaction_Type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754880" y="25511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NEFT / IMPS / Wire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617720" y="2798064"/>
            <a:ext cx="416052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617720" y="2798064"/>
            <a:ext cx="36576" cy="41148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54880" y="2843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Merchant_Category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754880" y="3026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Food, Crypto etc.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617720" y="3273552"/>
            <a:ext cx="416052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617720" y="3273552"/>
            <a:ext cx="36576" cy="411480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54880" y="3319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Device_Status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754880" y="35021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/ New device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617720" y="3749040"/>
            <a:ext cx="416052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617720" y="3749040"/>
            <a:ext cx="36576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54880" y="3794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Impossible_Travel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754880" y="39776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flag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0D2020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320040" y="4681728"/>
            <a:ext cx="36576" cy="3200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02920" y="4727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OUTPUT COLUMNS (filled by automation): Rules_Triggered  |  Risk_Score  |  Fraud_Status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05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n8n Automation Approach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320040" y="1097280"/>
            <a:ext cx="4663440" cy="3840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11887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CC"/>
                </a:solidFill>
              </a:rPr>
              <a:t>12 FRAUD DETECTION RULES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15361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14400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₹50,000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18379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14400" y="1837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Amount (₹10K/₹50K/₹1L)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21396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14400" y="2139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Probe &lt; ₹10 (new account)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2441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1440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Breach — repeat customer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27432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14400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Pattern — outflow &gt; 90%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3044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14400" y="3044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Hours (1AM–4AM)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33467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14400" y="3346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Account Spike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36484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R8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14400" y="3648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Txn High Value &gt; ₹40K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7200" y="39502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R9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14400" y="3950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/ Foreign Location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2519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14400" y="4251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Abuse &gt; ₹5,000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7200" y="45537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14400" y="4553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Micro Split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166360" y="1097280"/>
            <a:ext cx="3657600" cy="18288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303520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CC"/>
                </a:solidFill>
              </a:rPr>
              <a:t>CUMULATIVE SCORING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03520" y="1508760"/>
            <a:ext cx="3383280" cy="338328"/>
          </a:xfrm>
          <a:prstGeom prst="rect">
            <a:avLst/>
          </a:prstGeom>
          <a:solidFill>
            <a:srgbClr val="0D1117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349240" y="15453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</a:rPr>
              <a:t>0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897880" y="1545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269480" y="1545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Approve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303520" y="1892808"/>
            <a:ext cx="3383280" cy="338328"/>
          </a:xfrm>
          <a:prstGeom prst="rect">
            <a:avLst/>
          </a:prstGeom>
          <a:solidFill>
            <a:srgbClr val="0D1117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349240" y="1929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</a:rPr>
              <a:t>1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5897880" y="1929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269480" y="1929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Monitor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303520" y="2276856"/>
            <a:ext cx="3383280" cy="338328"/>
          </a:xfrm>
          <a:prstGeom prst="rect">
            <a:avLst/>
          </a:prstGeom>
          <a:solidFill>
            <a:srgbClr val="0D1117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5349240" y="2313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</a:rPr>
              <a:t>2–3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5897880" y="2313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269480" y="2313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Email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303520" y="2660904"/>
            <a:ext cx="3383280" cy="338328"/>
          </a:xfrm>
          <a:prstGeom prst="rect">
            <a:avLst/>
          </a:prstGeom>
          <a:solidFill>
            <a:srgbClr val="0D1117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349240" y="26974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C4C"/>
                </a:solidFill>
              </a:rPr>
              <a:t>4+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589788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26948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+ Escalate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166360" y="3017520"/>
            <a:ext cx="3657600" cy="19202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303520" y="3108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CC"/>
                </a:solidFill>
              </a:rPr>
              <a:t>TRIGGER &amp; OUTPUT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303520" y="3429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Trigger: New row added in Google Sheets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303520" y="3721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Process: Code node checks all 12 rules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303520" y="4014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Route: IF nodes route to 4 branches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303520" y="4306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Update: Sheet gets Rules + Score + Status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5303520" y="4599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Alert: Gmail sent for Medium &amp; High Risk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AB5B3E-5DF4-37D1-E6FB-DFA321859B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-1123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90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06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Architecture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228600" y="2103120"/>
            <a:ext cx="1234440" cy="96012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" y="2103120"/>
            <a:ext cx="1234440" cy="6400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2212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E5CC"/>
                </a:solidFill>
              </a:rPr>
              <a:t>TRIGGER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2860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463040" y="2578608"/>
            <a:ext cx="137160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72768" y="251460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CC"/>
                </a:solidFill>
              </a:rPr>
              <a:t>▶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600200" y="2103120"/>
            <a:ext cx="1234440" cy="96012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600200" y="2103120"/>
            <a:ext cx="1234440" cy="64008"/>
          </a:xfrm>
          <a:prstGeom prst="rect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00200" y="2212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B4A0"/>
                </a:solidFill>
              </a:rPr>
              <a:t>GET ROWS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60020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Read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834640" y="2578608"/>
            <a:ext cx="137160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44368" y="251460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CC"/>
                </a:solidFill>
              </a:rPr>
              <a:t>▶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971800" y="2103120"/>
            <a:ext cx="1234440" cy="96012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971800" y="2103120"/>
            <a:ext cx="123444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71800" y="2212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8C42"/>
                </a:solidFill>
              </a:rPr>
              <a:t>CODE NODE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97180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Rules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206240" y="2578608"/>
            <a:ext cx="137160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15968" y="251460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CC"/>
                </a:solidFill>
              </a:rPr>
              <a:t>▶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43400" y="2103120"/>
            <a:ext cx="1234440" cy="96012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343400" y="2103120"/>
            <a:ext cx="1234440" cy="64008"/>
          </a:xfrm>
          <a:prstGeom prst="rect">
            <a:avLst/>
          </a:prstGeom>
          <a:solidFill>
            <a:srgbClr val="FF4C4C"/>
          </a:solidFill>
          <a:ln w="12700">
            <a:solidFill>
              <a:srgbClr val="FF4C4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43400" y="2212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4C4C"/>
                </a:solidFill>
              </a:rPr>
              <a:t>IF NODE 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343400" y="2514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4?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577840" y="2578608"/>
            <a:ext cx="137160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87568" y="251460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CC"/>
                </a:solidFill>
              </a:rPr>
              <a:t>▶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760720" y="1188720"/>
            <a:ext cx="1371600" cy="73152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760720" y="1188720"/>
            <a:ext cx="1371600" cy="54864"/>
          </a:xfrm>
          <a:prstGeom prst="rect">
            <a:avLst/>
          </a:prstGeom>
          <a:solidFill>
            <a:srgbClr val="FF4C4C"/>
          </a:solidFill>
          <a:ln w="12700">
            <a:solidFill>
              <a:srgbClr val="FF4C4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0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C4C"/>
                </a:solidFill>
              </a:rPr>
              <a:t>HIGH RISK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760720" y="1508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Update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Gmail Alert 🚨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760720" y="2103120"/>
            <a:ext cx="1371600" cy="73152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760720" y="2103120"/>
            <a:ext cx="137160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60720" y="2212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C42"/>
                </a:solidFill>
              </a:rPr>
              <a:t>IF NODE 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76072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2?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315200" y="1691640"/>
            <a:ext cx="1463040" cy="6400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315200" y="1691640"/>
            <a:ext cx="146304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0" y="1801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C42"/>
                </a:solidFill>
              </a:rPr>
              <a:t>MEDIUM RISK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315200" y="2011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+ Gmail ⚠️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760720" y="3017520"/>
            <a:ext cx="1371600" cy="73152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760720" y="3017520"/>
            <a:ext cx="13716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60720" y="3127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C040"/>
                </a:solidFill>
              </a:rPr>
              <a:t>IF NODE 3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76072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1?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315200" y="2743200"/>
            <a:ext cx="1463040" cy="59436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7315200" y="2743200"/>
            <a:ext cx="146304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315200" y="28529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C040"/>
                </a:solidFill>
              </a:rPr>
              <a:t>LOW RISK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315200" y="3063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Update Only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315200" y="3520440"/>
            <a:ext cx="1463040" cy="59436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7315200" y="3520440"/>
            <a:ext cx="146304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0" y="3630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D353"/>
                </a:solidFill>
              </a:rPr>
              <a:t>CLEAR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315200" y="3840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Approve ✅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577840" y="2395728"/>
            <a:ext cx="182880" cy="0"/>
          </a:xfrm>
          <a:prstGeom prst="line">
            <a:avLst/>
          </a:prstGeom>
          <a:noFill/>
          <a:ln w="12700">
            <a:solidFill>
              <a:srgbClr val="00E5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68896" y="3648456"/>
            <a:ext cx="411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CC"/>
                </a:solidFill>
              </a:rPr>
              <a:t>▶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577840" y="3310128"/>
            <a:ext cx="182880" cy="0"/>
          </a:xfrm>
          <a:prstGeom prst="line">
            <a:avLst/>
          </a:prstGeom>
          <a:noFill/>
          <a:ln w="12700">
            <a:solidFill>
              <a:srgbClr val="00E5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87568" y="32461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CC"/>
                </a:solidFill>
              </a:rPr>
              <a:t>▶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28600" y="4480560"/>
            <a:ext cx="8686800" cy="457200"/>
          </a:xfrm>
          <a:prstGeom prst="rect">
            <a:avLst/>
          </a:prstGeom>
          <a:solidFill>
            <a:srgbClr val="0D2020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2" name="Shape 90"/>
          <p:cNvSpPr/>
          <p:nvPr/>
        </p:nvSpPr>
        <p:spPr>
          <a:xfrm>
            <a:off x="228600" y="4480560"/>
            <a:ext cx="36576" cy="4572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55 Transactions  →  14 HIGH RISK  |  15 MEDIUM RISK  |  11 LOW RISK  |  15 CLEAR  —  Completed in 16.8 seconds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8CC278-4AC7-1760-BFFE-8778BCE6A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51686"/>
            <a:ext cx="9144000" cy="648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190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Demonstration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execution evidence — n8n processed 55 transactions in 16.834 seconds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1417320"/>
            <a:ext cx="2011680" cy="27432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5840" y="1508760"/>
            <a:ext cx="640080" cy="640080"/>
          </a:xfrm>
          <a:prstGeom prst="ellipse">
            <a:avLst/>
          </a:prstGeom>
          <a:solidFill>
            <a:srgbClr val="39D353">
              <a:alpha val="25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1148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Execution Log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" y="2651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 in 16.834s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ID#70 | All nodes green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items processed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96312" y="1417320"/>
            <a:ext cx="2011680" cy="27432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182112" y="1508760"/>
            <a:ext cx="640080" cy="640080"/>
          </a:xfrm>
          <a:prstGeom prst="ellipse">
            <a:avLst/>
          </a:prstGeom>
          <a:solidFill>
            <a:srgbClr val="FF4C4C">
              <a:alpha val="25000"/>
            </a:srgbClr>
          </a:solidFill>
          <a:ln w="12700">
            <a:solidFill>
              <a:srgbClr val="FF4C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82112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2587752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Email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587752" y="2651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TXN015 — Score: 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R1, R6, R7, R8, R9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Block + Escalate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72584" y="1417320"/>
            <a:ext cx="2011680" cy="27432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358384" y="1508760"/>
            <a:ext cx="640080" cy="640080"/>
          </a:xfrm>
          <a:prstGeom prst="ellipse">
            <a:avLst/>
          </a:prstGeom>
          <a:solidFill>
            <a:srgbClr val="FF8C42">
              <a:alpha val="2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58384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4764024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Email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64024" y="2651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TXN030 — Score: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R1, R6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&amp; Monitor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48856" y="1417320"/>
            <a:ext cx="2011680" cy="27432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534656" y="1508760"/>
            <a:ext cx="640080" cy="640080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34656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6940296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Updated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40296" y="26517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55 rows filled: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Rules_Triggered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 + Fraud_Status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297680"/>
            <a:ext cx="8503920" cy="640080"/>
          </a:xfrm>
          <a:prstGeom prst="rect">
            <a:avLst/>
          </a:prstGeom>
          <a:solidFill>
            <a:srgbClr val="1C0A0A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0040" y="4297680"/>
            <a:ext cx="36576" cy="640080"/>
          </a:xfrm>
          <a:prstGeom prst="rect">
            <a:avLst/>
          </a:prstGeom>
          <a:solidFill>
            <a:srgbClr val="FF4C4C"/>
          </a:solidFill>
          <a:ln w="12700">
            <a:solidFill>
              <a:srgbClr val="FF4C4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370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C4C"/>
                </a:solidFill>
              </a:rPr>
              <a:t>SAMPLE EMAIL: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292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🚨 HIGH RISK ALERT – TXN001  |  Customer: Rahul Sharma  |  Amount: ₹75,000  |  Location: Foreign  |  Rules: R1:HighValue, R4:Velocity, R6:OffHours, R9:ForeignLoc  |  Score: 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EC309-3C5A-FE2C-2AE7-B5336DF3D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6571"/>
            <a:ext cx="9144000" cy="547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96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A0B9C0-E51D-CC86-0157-CB8A94F7D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58140"/>
            <a:ext cx="9144000" cy="55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26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08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Analysis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(n8n)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D3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for 55 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~3–4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 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Effort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Analysts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 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Day (24 hrs)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(&lt;1 sec)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(manual fatigue)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Zero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call / Email (manual)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Gmail alert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/ inconsistent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Google Sheet 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analyst 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— auto-scales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320040" y="4572000"/>
            <a:ext cx="201168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320040" y="4590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320040" y="47914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2496312" y="4572000"/>
            <a:ext cx="201168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2496312" y="4590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2496312" y="47914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Effort Reduced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4672584" y="4572000"/>
            <a:ext cx="201168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4672584" y="4590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24hrs → &lt;1s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4672584" y="47914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Speed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6848856" y="4572000"/>
            <a:ext cx="2011680" cy="41148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848856" y="4590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Emails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848856" y="47914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Auto-Sent (Medium+High)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09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320040" y="1143000"/>
            <a:ext cx="4160520" cy="11430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1143000"/>
            <a:ext cx="36576" cy="1143000"/>
          </a:xfrm>
          <a:prstGeom prst="rect">
            <a:avLst/>
          </a:prstGeom>
          <a:solidFill>
            <a:srgbClr val="FF4C4C"/>
          </a:solidFill>
          <a:ln w="12700">
            <a:solidFill>
              <a:srgbClr val="FF4C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1252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Internet Dependency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15727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requires active internet connectivity. Any network outage halts the workflow completely — no offline fallback exists.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1143000"/>
            <a:ext cx="4160520" cy="11430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1143000"/>
            <a:ext cx="36576" cy="1143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1252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Quality Concerns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00600" y="15727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or incomplete input data (empty fields, wrong formats) can cause rule misfire or silent scoring errors.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2423160"/>
            <a:ext cx="4160520" cy="11430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2423160"/>
            <a:ext cx="36576" cy="1143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2532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Rule-Based Limitations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28529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cannot learn from new fraud patterns. Sophisticated fraudsters who know the thresholds can bypass detection.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2423160"/>
            <a:ext cx="4160520" cy="11430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2423160"/>
            <a:ext cx="36576" cy="11430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2532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Velocity Rule Simplification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00600" y="28529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velocity check needs transaction history lookup. Our implementation uses a pre-flagged column as a proxy.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3703320"/>
            <a:ext cx="4160520" cy="11430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0040" y="3703320"/>
            <a:ext cx="36576" cy="11430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813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Scalability at Real Scale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4133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has execution limits. Processing millions of real bank transactions would require enterprise infrastructure.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3703320"/>
            <a:ext cx="4160520" cy="11430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63440" y="3703320"/>
            <a:ext cx="36576" cy="1143000"/>
          </a:xfrm>
          <a:prstGeom prst="rect">
            <a:avLst/>
          </a:prstGeom>
          <a:solidFill>
            <a:srgbClr val="FF4C4C"/>
          </a:solidFill>
          <a:ln w="12700">
            <a:solidFill>
              <a:srgbClr val="FF4C4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3813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&amp; Compliance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00600" y="4133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financial data passing through n8n and Gmail raises GDPR/RBI data localisation compliance questions.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10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320040" y="1143000"/>
            <a:ext cx="2743200" cy="16916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371600" y="1252728"/>
            <a:ext cx="640080" cy="640080"/>
          </a:xfrm>
          <a:prstGeom prst="ellipse">
            <a:avLst/>
          </a:prstGeom>
          <a:solidFill>
            <a:srgbClr val="00E5CC">
              <a:alpha val="22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11480" y="1965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Integration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rules with a trained machine learning model — Random Forest or XGBoost — that learns evolving fraud patterns from historical data.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46120" y="1143000"/>
            <a:ext cx="2743200" cy="16916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97680" y="1252728"/>
            <a:ext cx="640080" cy="640080"/>
          </a:xfrm>
          <a:prstGeom prst="ellipse">
            <a:avLst/>
          </a:prstGeom>
          <a:solidFill>
            <a:srgbClr val="00B4A0">
              <a:alpha val="22000"/>
            </a:srgbClr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0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3337560" y="1965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Scoring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3756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fraud probability before a transaction completes using customer behavioural profiles and real-time velocity analysis.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72200" y="1143000"/>
            <a:ext cx="2743200" cy="16916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23760" y="1252728"/>
            <a:ext cx="640080" cy="64008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263640" y="1965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636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Twilio or WhatsApp Business API node in n8n to send instant push notifications to customers and risk managers.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3017520"/>
            <a:ext cx="2743200" cy="16916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371600" y="3127248"/>
            <a:ext cx="640080" cy="640080"/>
          </a:xfrm>
          <a:prstGeom prst="ellipse">
            <a:avLst/>
          </a:prstGeom>
          <a:solidFill>
            <a:srgbClr val="39D353">
              <a:alpha val="22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71600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411480" y="3840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Integration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1148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to CBS (Core Banking System) via API to auto-block accounts in real time without manual intervention.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46120" y="3017520"/>
            <a:ext cx="2743200" cy="16916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297680" y="3127248"/>
            <a:ext cx="640080" cy="640080"/>
          </a:xfrm>
          <a:prstGeom prst="ellipse">
            <a:avLst/>
          </a:prstGeom>
          <a:solidFill>
            <a:srgbClr val="F0C040">
              <a:alpha val="22000"/>
            </a:srgbClr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97680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3337560" y="3840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33756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Looker Studio / Power BI dashboard connected to the Google Sheet for real-time fraud trend visualisation.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72200" y="3017520"/>
            <a:ext cx="2743200" cy="169164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223760" y="3127248"/>
            <a:ext cx="640080" cy="640080"/>
          </a:xfrm>
          <a:prstGeom prst="ellipse">
            <a:avLst/>
          </a:prstGeom>
          <a:solidFill>
            <a:srgbClr val="FF4C4C">
              <a:alpha val="22000"/>
            </a:srgbClr>
          </a:solidFill>
          <a:ln w="12700">
            <a:solidFill>
              <a:srgbClr val="FF4C4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23760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6263640" y="3840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&amp; RBI Compliance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26364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RBI STR (Suspicious Transaction Report) filing and FEMA cross-border monitoring with regulatory alerts.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11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320040" y="1143000"/>
            <a:ext cx="4160520" cy="1115568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1480" y="1234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960120" y="1252728"/>
            <a:ext cx="27432" cy="896112"/>
          </a:xfrm>
          <a:prstGeom prst="rect">
            <a:avLst/>
          </a:prstGeom>
          <a:solidFill>
            <a:srgbClr val="00E5CC">
              <a:alpha val="5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1252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Automation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97280" y="15544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how manual financial workflows can be mapped, analysed for inefficiencies, and redesigned using automation tools like n8n.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1143000"/>
            <a:ext cx="4160520" cy="1115568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54880" y="1234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5303520" y="1252728"/>
            <a:ext cx="27432" cy="896112"/>
          </a:xfrm>
          <a:prstGeom prst="rect">
            <a:avLst/>
          </a:prstGeom>
          <a:solidFill>
            <a:srgbClr val="00B4A0">
              <a:alpha val="50000"/>
            </a:srgbClr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1252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Logic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15544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how real-world banks (HDFC, Razorpay, Stripe) implement rule-based fraud scoring and applied the same principles in a working system.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2404872"/>
            <a:ext cx="4160520" cy="1115568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11480" y="249631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960120" y="2514600"/>
            <a:ext cx="27432" cy="896112"/>
          </a:xfrm>
          <a:prstGeom prst="rect">
            <a:avLst/>
          </a:prstGeom>
          <a:solidFill>
            <a:srgbClr val="FF8C42">
              <a:alpha val="5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" y="2514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Design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97280" y="28163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multi-node workflow with Trigger, Code, IF/Condition, Google Sheets, and Gmail nodes — gaining practical low-code development experience.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2404872"/>
            <a:ext cx="4160520" cy="1115568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54880" y="249631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5303520" y="2514600"/>
            <a:ext cx="27432" cy="896112"/>
          </a:xfrm>
          <a:prstGeom prst="rect">
            <a:avLst/>
          </a:prstGeom>
          <a:solidFill>
            <a:srgbClr val="39D353">
              <a:alpha val="5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40680" y="2514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for Finance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40680" y="28163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real JavaScript code to process financial data, apply conditional rules, compute cumulative scores, and return structured outputs.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0040" y="3666744"/>
            <a:ext cx="4160520" cy="1115568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11480" y="37581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960120" y="3776472"/>
            <a:ext cx="27432" cy="896112"/>
          </a:xfrm>
          <a:prstGeom prst="rect">
            <a:avLst/>
          </a:prstGeom>
          <a:solidFill>
            <a:srgbClr val="F0C040">
              <a:alpha val="50000"/>
            </a:srgbClr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7280" y="37764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 &amp; Modelling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97280" y="40782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business-relevant 55-row dataset with 13 input columns specifically structured to trigger all 12 fraud rules meaningfully.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63440" y="3666744"/>
            <a:ext cx="4160520" cy="1115568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754880" y="37581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5303520" y="3776472"/>
            <a:ext cx="27432" cy="896112"/>
          </a:xfrm>
          <a:prstGeom prst="rect">
            <a:avLst/>
          </a:prstGeom>
          <a:solidFill>
            <a:srgbClr val="FF4C4C">
              <a:alpha val="50000"/>
            </a:srgbClr>
          </a:solidFill>
          <a:ln w="12700">
            <a:solidFill>
              <a:srgbClr val="FF4C4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40680" y="37764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Analysis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440680" y="40782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automation value — 99.9% time reduction, zero human effort, real-time detection — using structured before/after comparison.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0584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5720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36576" cy="36576"/>
          </a:xfrm>
          <a:prstGeom prst="ellipse">
            <a:avLst/>
          </a:prstGeom>
          <a:solidFill>
            <a:srgbClr val="00E5CC">
              <a:alpha val="25000"/>
            </a:srgbClr>
          </a:solidFill>
          <a:ln w="12700">
            <a:solidFill>
              <a:srgbClr val="00E5C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74320"/>
            <a:ext cx="4572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64008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57200"/>
            <a:ext cx="914400" cy="365760"/>
          </a:xfrm>
          <a:prstGeom prst="line">
            <a:avLst/>
          </a:prstGeom>
          <a:noFill/>
          <a:ln w="6350">
            <a:solidFill>
              <a:srgbClr val="00E5CC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3840480"/>
            <a:ext cx="2286000" cy="164592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932688" cy="256032"/>
          </a:xfrm>
          <a:prstGeom prst="roundRect">
            <a:avLst>
              <a:gd name="adj" fmla="val 14286"/>
            </a:avLst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C"/>
                </a:solidFill>
              </a:rPr>
              <a:t>SLIDE 12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320040" y="1097280"/>
            <a:ext cx="8503920" cy="1005840"/>
          </a:xfrm>
          <a:prstGeom prst="rect">
            <a:avLst/>
          </a:prstGeom>
          <a:solidFill>
            <a:srgbClr val="0D2020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1097280"/>
            <a:ext cx="54864" cy="100584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11887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once took a team of analysts 3–4 hours to review manually — our n8n workflow completes in 16.8 seconds with zero human effort and real-time email alerts."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0040" y="2286000"/>
            <a:ext cx="8503920" cy="4572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1480" y="23500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68680" y="2350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automated fraud detection for 55 transactions using 12 real-world rules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2807208"/>
            <a:ext cx="8503920" cy="4572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11480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68680" y="28712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updated in real-time with Rules_Triggered, Risk_Score, and Fraud_Status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3328416"/>
            <a:ext cx="8503920" cy="4572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11480" y="33924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68680" y="33924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automated alert emails sent — 14 HIGH RISK escalations + 15 MEDIUM RISK flags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0040" y="3849624"/>
            <a:ext cx="8503920" cy="4572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11480" y="39136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🏦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68680" y="39136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mirrors real systems used by Razorpay, HDFC Bank, Stripe Radar, and Visa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" y="4370832"/>
            <a:ext cx="8503920" cy="457200"/>
          </a:xfrm>
          <a:prstGeom prst="rect">
            <a:avLst/>
          </a:prstGeom>
          <a:solidFill>
            <a:srgbClr val="1C2128"/>
          </a:solidFill>
          <a:ln w="9525">
            <a:solidFill>
              <a:srgbClr val="00E5CC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11480" y="4434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686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proves that intelligent automation is accessible, scalable, and business-ready in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1444</Words>
  <Application>Microsoft Office PowerPoint</Application>
  <PresentationFormat>On-screen Show (16:9)</PresentationFormat>
  <Paragraphs>304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Financial Process Automation using n8n</dc:title>
  <dc:subject>PptxGenJS Presentation</dc:subject>
  <dc:creator>PptxGenJS</dc:creator>
  <cp:lastModifiedBy>VANSH MITTAL</cp:lastModifiedBy>
  <cp:revision>3</cp:revision>
  <dcterms:created xsi:type="dcterms:W3CDTF">2026-06-04T05:38:48Z</dcterms:created>
  <dcterms:modified xsi:type="dcterms:W3CDTF">2026-06-05T05:44:26Z</dcterms:modified>
</cp:coreProperties>
</file>